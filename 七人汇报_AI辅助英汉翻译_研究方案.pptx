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40 秒。大家可能都有同样的经历：把英文放进 AI，很快得到一段流畅的中文。但读起来顺，是否意味着信息准确？我们想从这个课堂经验出发，设计一项能够比较译文、时间与学生判断的研究。今天汇报的是方案，尚未收集实验数据。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秒。AI 译得快，我们为什么还要研究？ 本板块由第 1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秒。这是自拟的教学示例，不是实际模型输出。请大家观察 may 和 depend on：中文看起来很流畅，却把不确定性和条件关系改掉了。比较稳妥的译法是“这项政策可能降低成本，但其效果取决于当地条件”。我们研究的起点是：流畅与忠实可能分离。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65 秒。只看速度容易忽略核查成本，只看最终译文又不知道学生怎样到达这个结果。我们的三条线分别是质量、用时和决策理由，后面的研究设计都围绕它们展开。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65 秒。样本 14 人来自课程项目的可行性考虑，不是统计功效分析得出的充分样本。文本选一般说明文，避免同时讨论文学、法律、口译等完全不同的任务。过渡：确定范围后，我们需要文献来帮助判断哪些问题值得问。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秒。读文献，是为了找到自己的问题。 本板块由第 2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秒。O’Brien 的论文提醒我们，翻译不是只有最终文字，还包含人与工具的互动。Kenny 的编辑文集帮助我们理解工具素养；UNESCO 的指南涉及教育与研究伦理。它们是起步框架，不能当成特定模型的效果证据。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秒。这不是对整个领域现状的概括，而是我们阅读和评价研究时采用的标准。态度、时间、质量和决策是不同构念，不能用一个指标证明另一个指标。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65 秒。记录检索日期、完整关键词和筛选理由。优先近三年研究，保留经典方法文献。我们不说“尚无人研究”，因为完整检索尚未完成。过渡：这些视角最后需要落到可回答的研究问题上。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秒。不问“大影响”，先问三个具体问题。 本板块由第 3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65 秒。质量和时间分别对应量化数据，决策理由需要过程记录和访谈。我们没有先写好“AI 提升能力”的结论，研究问题保持开放。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80 秒。采用被试内设计，每人都是自己的比较对象。不能让同一学生在两个条件翻译同一段，因为记忆会干扰结果。两种条件均允许相同固定词典。每段上限 20 分钟，AI 条件用时包含提示输入和模型等待。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秒。四组序列的 A、B 指两段不同材料，独表示独立条件。该分配平衡每段文本的工具条件，但先后顺序仍略有差异，需要记录。过渡：接下来把设计变成真正可执行的步骤。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秒。让另一个小组也能照着方案做一遍。 本板块由第 4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秒。预试人数不进入正式样本。AI 条件仅一次初译，不允许继续聊天，以减少策略差异。固定提示为“请将以下说明文译成中文，忠实保留信息，面向普通读者，仅输出译文”。两条件提交后都填写关键决策，填写时间不计入翻译用时。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秒。轻微错误计 1 分，实质改变信息或妨碍理解的重大错误计 3 分。同一错误不重复计分。错误负担按加权错误总分除以原文词数再乘 100 计算，越低表示错误越少。这是项目自定的简化框架，不宣称是正式标准化量表。保留协商前评分，报告一致性与争议处理。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秒。评分者需要先就典型错误讨论和校准。这里两处不同的语义改变值得检查，严重程度应依完整语境和评分规则确定。过渡：收集这些资料后，我们怎样让它们回答研究问题？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秒。既看译文，也听学生怎么解释。 本板块由第 5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秒。14 个参与者就是 14 个配对单位。先描述差异方向、幅度和个体差异；如开展探索性配对检验，需依据差值分布等条件选择并报告假设。未完成任务和缺失值预先规定处理方式。没有显著差异不等于证明完全等效。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秒。参考 Braun 与 Clarke（2006）的主题分析步骤，记录分析备忘录，检查主题与研究问题的关联。呈现匿名引文与反例，不虚构访谈句子；修订次数本身不能代表译者主体性。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秒。不要简单用一个结果赞成或反对 AI。三种组合只是提醒我们：效率与质量可能不同步。最终哪些解释成立，只能由真实资料决定。过渡：可执行还不够，研究需要对参与者和结论负责。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秒。对参与者负责，对结论克制。 本板块由第 6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秒。小组同学之间也可能有参加压力，招募时要明确不参与没有后果。匿名化后撤回的能力可能有限，应在知情同意中说明。当前未获得伦理批准，不把计划写成审批已经完成。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75 秒。依据 UNESCO 的教育研究指南讨论风险，同时以学校与课程政策为准。我们需要对每条引用负责，不能把模型编造的书目带进论文。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秒。学生熟悉度、评分判断、模型输出波动都可能影响结果。小样本统计功效有限，没有显著差异不说明没有任何差异。过渡：最后，我们把这项方案带回课堂和学术写作。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章节转场，约 10 秒。我们想交出的，是一项有依据的研究。 本板块由第 7 位同学汇报。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秒。方案阶段可以写分析计划和预期贡献，不能写确定的结果。正式研究完成后，论文结果回答观察到了什么，讨论说明如何理解这些观察，两者需区分。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65 秒。分工可以包括招募、材料、计时、资料整理和分析，但评分者应有共同校准。本次七人汇报分块不等于研究工作要机械按七块切割。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 70 秒。回到最初的问题：我们不提前给 AI 判定好坏，而是把课堂经验转成三个具体问题，再用可执行的任务、评分和过程资料来回答。预期贡献是提供课堂证据，不是宣布模型已经提高翻译能力。可以邀请一位同学回答效率与质量的讨论问题。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附录页，快速展示，不逐项朗读。当前环境未在线核验出版元数据，交稿前沿 DOI 或机构链接核查。请根据课程要求补充所选模型、语言方向和学生群体的近期实证研究。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附录页，快速展示，不逐项朗读。当前环境未在线核验出版元数据，交稿前沿 DOI 或机构链接核查。请根据课程要求补充所选模型、语言方向和学生群体的近期实证研究。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760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TRANSLATION ×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17320"/>
            <a:ext cx="8229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243849"/>
                </a:solidFill>
                <a:latin typeface="Noto Sans CJK SC"/>
              </a:defRPr>
            </a:pPr>
            <a:r>
              <a:t>AI 译得快，</a:t>
            </a:r>
          </a:p>
          <a:p>
            <a:pPr>
              <a:spcAft>
                <a:spcPts val="800"/>
              </a:spcAft>
              <a:defRPr sz="4200" b="1">
                <a:solidFill>
                  <a:srgbClr val="243849"/>
                </a:solidFill>
                <a:latin typeface="Noto Sans CJK SC"/>
              </a:defRPr>
            </a:pPr>
            <a:r>
              <a:t>我们译得更好吗？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747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687987"/>
                </a:solidFill>
                <a:latin typeface="Noto Sans CJK SC"/>
              </a:defRPr>
            </a:pPr>
            <a:r>
              <a:t>生成式 AI 辅助英汉翻译</a:t>
            </a:r>
          </a:p>
          <a:p>
            <a:pPr>
              <a:spcAft>
                <a:spcPts val="800"/>
              </a:spcAft>
              <a:defRPr sz="2300" b="0">
                <a:solidFill>
                  <a:srgbClr val="687987"/>
                </a:solidFill>
                <a:latin typeface="Noto Sans CJK SC"/>
              </a:defRPr>
            </a:pPr>
            <a:r>
              <a:t>译文质量、译者决策与学术伦理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074920"/>
            <a:ext cx="69951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2120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43849"/>
                </a:solidFill>
                <a:latin typeface="Noto Sans CJK SC"/>
              </a:defRPr>
            </a:pPr>
            <a:r>
              <a:t>七人小组  ·  中文汇报  ·  约 28 分钟  ·  研究方案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7373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18F9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1284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译得准吗？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017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18F9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49300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真的省时吗？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297679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18F9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77316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谁在做判断？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18F9A"/>
                </a:solidFill>
                <a:latin typeface="Noto Sans CJK SC"/>
              </a:defRPr>
            </a:pPr>
            <a:r>
              <a:t>汇报者 1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218F9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从一次翻译说起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AI 译得快，我们为什么还要研究？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8F9A"/>
                </a:solidFill>
                <a:latin typeface="Noto Sans CJK SC"/>
              </a:defRPr>
            </a:pPr>
            <a:r>
              <a:t>PART 01   ───   七人汇报 · 研究方法与学术写作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21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8F9A"/>
                </a:solidFill>
                <a:latin typeface="Noto Sans CJK SC"/>
              </a:defRPr>
            </a:pPr>
            <a:r>
              <a:t>PART 01  ·  从一次翻译说起  ·  汇报者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看起来很顺，意思却变了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先看一处自拟例子：限定条件是怎么消失的？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英文原句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The policy may reduce costs, but its effects depend on local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18F9A"/>
                </a:solidFill>
                <a:latin typeface="Noto Sans CJK SC"/>
              </a:defRPr>
            </a:pPr>
            <a:r>
              <a:t>一段“流畅”的中文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这项政策会降低成本，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并在各地取得同样效果。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“可能”变成“会”；“取决于当地条件”变成“效果相同”。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21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8F9A"/>
                </a:solidFill>
                <a:latin typeface="Noto Sans CJK SC"/>
              </a:defRPr>
            </a:pPr>
            <a:r>
              <a:t>PART 01  ·  从一次翻译说起  ·  汇报者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所以，我们不只看“有没有 AI”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更想知道：学生使用 AI 后，翻译过程发生了什么？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译文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信息有没有遗漏？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语气和术语是否准确？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初译快了，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核查与修订用了多久？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为什么接受？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又为什么改掉？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把“译文、时间、判断”放在同一项任务里观察。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21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18F9A"/>
                </a:solidFill>
                <a:latin typeface="Noto Sans CJK SC"/>
              </a:defRPr>
            </a:pPr>
            <a:r>
              <a:t>PART 01  ·  从一次翻译说起  ·  汇报者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把范围缩小，研究才能落地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一项本科课程项目，不需要替整个翻译行业下结论。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谁来参加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计划招募 14 名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翻译专业高年级学生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翻译什么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英译汉说明文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每段约 180–220 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18F9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比较什么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独立翻译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与 AI 初译后人工修订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8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我们研究的是这一课堂情境，不代表所有译者和文本。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47D59"/>
                </a:solidFill>
                <a:latin typeface="Noto Sans CJK SC"/>
              </a:defRPr>
            </a:pPr>
            <a:r>
              <a:t>汇报者 2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D47D59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别人已经告诉了我们什么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读文献，是为了找到自己的问题。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7D59"/>
                </a:solidFill>
                <a:latin typeface="Noto Sans CJK SC"/>
              </a:defRPr>
            </a:pPr>
            <a:r>
              <a:t>PART 02   ───   七人汇报 · 研究方法与学术写作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D4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7D59"/>
                </a:solidFill>
                <a:latin typeface="Noto Sans CJK SC"/>
              </a:defRPr>
            </a:pPr>
            <a:r>
              <a:t>PART 02  ·  别人已经告诉了我们什么  ·  汇报者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文献不是背景装饰，而是研究的支点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先从三个方向建立理解，再补充直接相关的近期研究。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人与工具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O’Brien（2012）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关注翻译中的人机互动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工具素养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Kenny（2022）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讨论机器翻译的批判性使用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教育伦理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UNESCO（2023）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讨论生成式 AI 的使用边界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这些来源提供视角，并不直接证明今天的模型有效。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D4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7D59"/>
                </a:solidFill>
                <a:latin typeface="Noto Sans CJK SC"/>
              </a:defRPr>
            </a:pPr>
            <a:r>
              <a:t>PART 02  ·  别人已经告诉了我们什么  ·  汇报者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“更快”和“更好”，需要分开讨论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读文献时，我们要问：这篇研究究竟测量了什么？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只有用时或态度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“我感觉更方便”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不等于译文更准确。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“完成得更快”也不是全部质量。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47D59"/>
                </a:solidFill>
                <a:latin typeface="Noto Sans CJK SC"/>
              </a:defRPr>
            </a:pPr>
            <a:r>
              <a:t>把表现与过程连接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查看最终译文，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再看关键修订，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最后追问修订理由。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不同证据回答不同问题，不能互相替代。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D4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D47D59"/>
                </a:solidFill>
                <a:latin typeface="Noto Sans CJK SC"/>
              </a:defRPr>
            </a:pPr>
            <a:r>
              <a:t>PART 02  ·  别人已经告诉了我们什么  ·  汇报者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我们准备怎样找到更贴近的研究？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建立一个小型文献矩阵，让“研究切入点”有依据。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学校数据库 / Scholar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AI + 翻译学生 + 修订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筛选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优先近期实证研究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任务与工具条件要清楚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47D59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整理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对象 → 方法 → 发现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再记录局限与差异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现阶段提出课堂问题；创新程度需在检索后确认。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5987BC"/>
                </a:solidFill>
                <a:latin typeface="Noto Sans CJK SC"/>
              </a:defRPr>
            </a:pPr>
            <a:r>
              <a:t>汇报者 3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5987B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把好奇变成研究问题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不问“大影响”，先问三个具体问题。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987BC"/>
                </a:solidFill>
                <a:latin typeface="Noto Sans CJK SC"/>
              </a:defRPr>
            </a:pPr>
            <a:r>
              <a:t>PART 03   ───   七人汇报 · 研究方法与学术写作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598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987BC"/>
                </a:solidFill>
                <a:latin typeface="Noto Sans CJK SC"/>
              </a:defRPr>
            </a:pPr>
            <a:r>
              <a:t>PART 03  ·  把好奇变成研究问题  ·  汇报者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我们最终想回答三个问题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研究问题要具体到：可以用什么资料回答？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RQ1 · 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AI 辅助后，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错误负担如何变化？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RQ2 · 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算上核查与修订，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总用时如何变化？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RQ3 · 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学生为什么接受、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修改或拒绝建议？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不预设 AI 一定更好；差异的方向由数据决定。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598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987BC"/>
                </a:solidFill>
                <a:latin typeface="Noto Sans CJK SC"/>
              </a:defRPr>
            </a:pPr>
            <a:r>
              <a:t>PART 03  ·  把好奇变成研究问题  ·  汇报者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让同一个学生体验两种条件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个人水平不同，可能掩盖工具条件的差异。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条件 A · 独立翻译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使用规定的词典资源。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不使用机器翻译或生成式 AI。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完成一段文本。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5987BC"/>
                </a:solidFill>
                <a:latin typeface="Noto Sans CJK SC"/>
              </a:defRPr>
            </a:pPr>
            <a:r>
              <a:t>条件 B · AI 辅助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保存 AI 初译。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学生人工核查与修订。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完成另一段文本。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同一学生，两种条件，两段不同文本。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598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5987BC"/>
                </a:solidFill>
                <a:latin typeface="Noto Sans CJK SC"/>
              </a:defRPr>
            </a:pPr>
            <a:r>
              <a:t>PART 03  ·  把好奇变成研究问题  ·  汇报者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但还要防止“第二次更熟练”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尽量平衡文本和先后顺序，并透明报告剩余偏差。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四组序列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A独→B AI / B AI→A独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 AI→B独 / B独→A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随机分配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人数依次为 4、3、4、3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两段文本各条件均 7 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987BC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保持一致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统一任务说明与休息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记录模型、日期和资源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顺序仍有 8∶6 的不平衡，小样本无法消除所有干扰。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9A79A8"/>
                </a:solidFill>
                <a:latin typeface="Noto Sans CJK SC"/>
              </a:defRPr>
            </a:pPr>
            <a:r>
              <a:t>汇报者 4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9A79A8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这项研究怎么做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让另一个小组也能照着方案做一遍。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9A79A8"/>
                </a:solidFill>
                <a:latin typeface="Noto Sans CJK SC"/>
              </a:defRPr>
            </a:pPr>
            <a:r>
              <a:t>PART 04   ───   七人汇报 · 研究方法与学术写作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9A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9A79A8"/>
                </a:solidFill>
                <a:latin typeface="Noto Sans CJK SC"/>
              </a:defRPr>
            </a:pPr>
            <a:r>
              <a:t>PART 04  ·  这项研究怎么做  ·  汇报者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一次任务，怎样从头走到尾？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正式任务前，先请 2 名非正式样本学生试做。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开始前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确认同意与任务说明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固定文本、模型和提示词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任务中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每段最多 20 分钟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记录起止、初译与最终稿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提交后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解释 3 处关键决策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记录依据，开展回顾访谈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预试解决难度与说明问题，之后冻结任务规则。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9A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9A79A8"/>
                </a:solidFill>
                <a:latin typeface="Noto Sans CJK SC"/>
              </a:defRPr>
            </a:pPr>
            <a:r>
              <a:t>PART 04  ·  这项研究怎么做  ·  汇报者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“译得更好”，不能只靠印象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采用本项目的简化错误框架；先校准，再盲评。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准确性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漏译、误译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限定条件与逻辑关系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语言表达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中文是否通顺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是否妨碍读者理解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A79A8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术语一致性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关键称呼与术语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是否前后一致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两名评分者隐藏身份与工具条件，独立评分后讨论。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9A7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9A79A8"/>
                </a:solidFill>
                <a:latin typeface="Noto Sans CJK SC"/>
              </a:defRPr>
            </a:pPr>
            <a:r>
              <a:t>PART 04  ·  这项研究怎么做  ·  汇报者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回到开场：这一处该怎么评价？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示例用于解释规则，不属于实验结果。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信息发生改变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“may” → “会”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把可能性写成确定判断。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“depend on” → “相同”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改变了条件关系。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9A79A8"/>
                </a:solidFill>
                <a:latin typeface="Noto Sans CJK SC"/>
              </a:defRPr>
            </a:pPr>
            <a:r>
              <a:t>核查后的修订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这项政策可能降低成本，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但其效果取决于当地条件。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判断依据：回到英文原句。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3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评价要说明“哪里错、为什么错”，而非只说“不够地道”。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B9B7A"/>
                </a:solidFill>
                <a:latin typeface="Noto Sans CJK SC"/>
              </a:defRPr>
            </a:pPr>
            <a:r>
              <a:t>汇报者 5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4B9B7A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数据会怎样回答我们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既看译文，也听学生怎么解释。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B9B7A"/>
                </a:solidFill>
                <a:latin typeface="Noto Sans CJK SC"/>
              </a:defRPr>
            </a:pPr>
            <a:r>
              <a:t>PART 05   ───   七人汇报 · 研究方法与学术写作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4B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B9B7A"/>
                </a:solidFill>
                <a:latin typeface="Noto Sans CJK SC"/>
              </a:defRPr>
            </a:pPr>
            <a:r>
              <a:t>PART 05  ·  数据会怎样回答我们  ·  汇报者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先看每个人的变化，再看整体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分析单位是学生，而不是把句子数当样本数。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质量变化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AI 条件 − 独立条件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错误负担下降了吗？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用时变化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AI 条件 − 独立条件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总时间减少了吗？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整体趋势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画个人配对点图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报告中位数、范围和缺失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差值为负：对应指标下降；质量和时间仍要分开解释。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4B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B9B7A"/>
                </a:solidFill>
                <a:latin typeface="Noto Sans CJK SC"/>
              </a:defRPr>
            </a:pPr>
            <a:r>
              <a:t>PART 05  ·  数据会怎样回答我们  ·  汇报者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数字告诉我们“变了多少”，访谈解释“为什么”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计划对所有参与者进行约 8 分钟的回顾访谈。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追问选择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你为什么保留这句？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判断依据是什么？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追问修订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哪处建议被你改掉？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你怎样发现问题？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寻找主题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熟悉资料 → 编码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形成主题，并检查反例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主题必须由材料支持，不能把预设想法当访谈发现。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4B9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B9B7A"/>
                </a:solidFill>
                <a:latin typeface="Noto Sans CJK SC"/>
              </a:defRPr>
            </a:pPr>
            <a:r>
              <a:t>PART 05  ·  数据会怎样回答我们  ·  汇报者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如果出现不同组合，我们如何解释？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以下是分析路径示意，不是已经发生的研究发现。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更快，质量相近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检查是否进行了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有效、充分的核查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更快，错误更多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关注未经验证的接受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以及信息遗漏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B9B7A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更慢，错误更少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观察审慎修订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所增加的时间成本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A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把个人表现与决策片段对照；解释也允许相互矛盾。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39136"/>
                </a:solidFill>
                <a:latin typeface="Noto Sans CJK SC"/>
              </a:defRPr>
            </a:pPr>
            <a:r>
              <a:t>汇报者 6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C39136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研究也有边界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对参与者负责，对结论克制。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39136"/>
                </a:solidFill>
                <a:latin typeface="Noto Sans CJK SC"/>
              </a:defRPr>
            </a:pPr>
            <a:r>
              <a:t>PART 06   ───   七人汇报 · 研究方法与学术写作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C39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39136"/>
                </a:solidFill>
                <a:latin typeface="Noto Sans CJK SC"/>
              </a:defRPr>
            </a:pPr>
            <a:r>
              <a:t>PART 06  ·  研究也有边界  ·  汇报者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同学愿意参加，不等于可以省略伦理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正式实施前，由教师确认课程与学校的审查要求。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自愿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说明任务、用途与退出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参与不影响课程成绩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匿名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使用 P01–P14 编码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身份表与研究资料分开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保护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不向模型上传隐私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只使用有权处理的文本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明确保管期限与退出截止点，不承诺无法实现的撤回。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C39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39136"/>
                </a:solidFill>
                <a:latin typeface="Noto Sans CJK SC"/>
              </a:defRPr>
            </a:pPr>
            <a:r>
              <a:t>PART 06  ·  研究也有边界  ·  汇报者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AI 可以辅助，学术责任仍需有人承担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披露的不只是“用了 AI”，而是它具体做了什么。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43849"/>
                </a:solidFill>
                <a:latin typeface="Noto Sans CJK SC"/>
              </a:defRPr>
            </a:pPr>
            <a:r>
              <a:t>需要保留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工具与版本、使用日期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完整提示词与原始输出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人工修改和核查记录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816352"/>
            <a:ext cx="5303520" cy="2441448"/>
          </a:xfrm>
          <a:prstGeom prst="roundRect">
            <a:avLst>
              <a:gd name="adj" fmla="val 12000"/>
            </a:avLst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081528"/>
            <a:ext cx="47548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C39136"/>
                </a:solidFill>
                <a:latin typeface="Noto Sans CJK SC"/>
              </a:defRPr>
            </a:pPr>
            <a:r>
              <a:t>需要核实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67328"/>
            <a:ext cx="4754880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引用与来源是否真实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原文是否被准确理解</a:t>
            </a:r>
          </a:p>
          <a:p>
            <a:pPr>
              <a:spcAft>
                <a:spcPts val="800"/>
              </a:spcAft>
              <a:defRPr sz="2200" b="0">
                <a:solidFill>
                  <a:srgbClr val="243849"/>
                </a:solidFill>
                <a:latin typeface="Noto Sans CJK SC"/>
              </a:defRPr>
            </a:pPr>
            <a:r>
              <a:t>使用方式是否符合校规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AI 输出不是可追溯文献，不能直接充当学术证据。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C391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C39136"/>
                </a:solidFill>
                <a:latin typeface="Noto Sans CJK SC"/>
              </a:defRPr>
            </a:pPr>
            <a:r>
              <a:t>PART 06  ·  研究也有边界  ·  汇报者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我们能说什么，又不能说什么？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研究价值也体现在结论的克制。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小样本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可以描述课堂情境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不能代表全部翻译学生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单一文本类型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可以比较这两段说明文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不能推论文学与口译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C39136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特定工具版本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可以记录本次表现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不能假定所有模型相同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FB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控制和记录能减少干扰，但不能让局限消失。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657BC1"/>
                </a:solidFill>
                <a:latin typeface="Noto Sans CJK SC"/>
              </a:defRPr>
            </a:pPr>
            <a:r>
              <a:t>汇报者 7  /  约 3.5–4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20700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0" b="1">
                <a:solidFill>
                  <a:srgbClr val="657BC1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346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900" b="1">
                <a:solidFill>
                  <a:srgbClr val="243849"/>
                </a:solidFill>
                <a:latin typeface="Noto Sans CJK SC"/>
              </a:defRPr>
            </a:pPr>
            <a:r>
              <a:t>回到课堂，回到写作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2062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687987"/>
                </a:solidFill>
                <a:latin typeface="Noto Sans CJK SC"/>
              </a:defRPr>
            </a:pPr>
            <a:r>
              <a:t>我们想交出的，是一项有依据的研究。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6199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57BC1"/>
                </a:solidFill>
                <a:latin typeface="Noto Sans CJK SC"/>
              </a:defRPr>
            </a:pPr>
            <a:r>
              <a:t>PART 07   ───   七人汇报 · 研究方法与学术写作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657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57BC1"/>
                </a:solidFill>
                <a:latin typeface="Noto Sans CJK SC"/>
              </a:defRPr>
            </a:pPr>
            <a:r>
              <a:t>PART 07  ·  回到课堂，回到写作  ·  汇报者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从这份方案，走到一篇论文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论文不是把 PPT 连起来，而是建立有依据的论证。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为什么研究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引言与文献综述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提出问题和研究边界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怎样得到证据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方法与结果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过程可追溯，报告透明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证据意味着什么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讨论与结论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回应问题，也说明局限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B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现在写“研究计划”；收集数据后，才写真实结果。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657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57BC1"/>
                </a:solidFill>
                <a:latin typeface="Noto Sans CJK SC"/>
              </a:defRPr>
            </a:pPr>
            <a:r>
              <a:t>PART 07  ·  回到课堂，回到写作  ·  汇报者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四周内，我们可以怎样推进？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假定工具可用、课程与伦理要求已确认。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第 1 周 · 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查文献、确认要求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材料预试与任务定稿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第 2–3 周 · 实施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任务与访谈、盲评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数据整理与主题分析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852928"/>
            <a:ext cx="3502152" cy="23957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8152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57BC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84448"/>
            <a:ext cx="30540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43849"/>
                </a:solidFill>
                <a:latin typeface="Noto Sans CJK SC"/>
              </a:defRPr>
            </a:pPr>
            <a:r>
              <a:t>第 4 周 · 写作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279392"/>
            <a:ext cx="3054096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整合证据、核查引用</a:t>
            </a:r>
          </a:p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互审与七人排练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881360" cy="521207"/>
          </a:xfrm>
          <a:prstGeom prst="roundRect">
            <a:avLst>
              <a:gd name="adj" fmla="val 12000"/>
            </a:avLst>
          </a:prstGeom>
          <a:solidFill>
            <a:srgbClr val="EB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42432"/>
            <a:ext cx="104241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43849"/>
                </a:solidFill>
                <a:latin typeface="Noto Sans CJK SC"/>
              </a:defRPr>
            </a:pPr>
            <a:r>
              <a:t>先完成可执行的小研究，再谈更大的教学启示。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457200"/>
            <a:ext cx="384048" cy="82296"/>
          </a:xfrm>
          <a:prstGeom prst="rect">
            <a:avLst/>
          </a:prstGeom>
          <a:solidFill>
            <a:srgbClr val="657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57BC1"/>
                </a:solidFill>
                <a:latin typeface="Noto Sans CJK SC"/>
              </a:defRPr>
            </a:pPr>
            <a:r>
              <a:t>PART 07  ·  回到课堂，回到写作  ·  汇报者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AI 译得快，我们译得更好吗？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答案不应该在研究开始前就被写好。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6070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100" b="1">
                <a:solidFill>
                  <a:srgbClr val="243849"/>
                </a:solidFill>
                <a:latin typeface="Noto Sans CJK SC"/>
              </a:defRPr>
            </a:pPr>
            <a:r>
              <a:t>我们要看的，是译文、时间，</a:t>
            </a:r>
          </a:p>
          <a:p>
            <a:pPr>
              <a:spcAft>
                <a:spcPts val="800"/>
              </a:spcAft>
              <a:defRPr sz="3100" b="1">
                <a:solidFill>
                  <a:srgbClr val="243849"/>
                </a:solidFill>
                <a:latin typeface="Noto Sans CJK SC"/>
              </a:defRPr>
            </a:pPr>
            <a:r>
              <a:t>以及学生是否作出了有依据的判断。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7200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EB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64024"/>
            <a:ext cx="10149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657BC1"/>
                </a:solidFill>
                <a:latin typeface="Noto Sans CJK SC"/>
              </a:defRPr>
            </a:pPr>
            <a:r>
              <a:t>留给大家：如果速度提高，错误也增加，这算“更有效率”吗？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理论与工具素养  ·  APA 7 起步文献清单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107899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103327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9"/>
                </a:solidFill>
                <a:latin typeface="Noto Sans CJK SC"/>
              </a:defRPr>
            </a:pPr>
            <a:r>
              <a:t>O’Brien, S. (2012). Translation as human–computer interaction. Translation Spaces, 1, 101–122. https://doi.org/10.1075/ts.1.05obr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69079"/>
            <a:ext cx="107899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3327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9"/>
                </a:solidFill>
                <a:latin typeface="Noto Sans CJK SC"/>
              </a:defRPr>
            </a:pPr>
            <a:r>
              <a:t>Kenny, D. (Ed.). (2022). Machine translation for everyone: Empowering users in the age of artificial intelligence. Language Science Press. https://doi.org/10.5281/zenodo.6653406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87987"/>
                </a:solidFill>
                <a:latin typeface="Noto Sans CJK SC"/>
              </a:defRPr>
            </a:pPr>
            <a:r>
              <a:t>实施前需补充近期实证文献并核查来源；本清单不是系统综述。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28232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7987"/>
                </a:solidFill>
                <a:latin typeface="Noto Sans CJK SC"/>
              </a:defRPr>
            </a:pPr>
            <a:r>
              <a:t>研究方法与学术写作  /  AI 辅助英汉翻译  /  研究方案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34593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687987"/>
                </a:solidFill>
                <a:latin typeface="Noto Sans CJK SC"/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43849"/>
                </a:solidFill>
                <a:latin typeface="Noto Sans CJK SC"/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7987"/>
                </a:solidFill>
                <a:latin typeface="Noto Sans CJK SC"/>
              </a:defRPr>
            </a:pPr>
            <a:r>
              <a:t>分析方法与学术伦理  ·  APA 7 起步文献清单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88920"/>
            <a:ext cx="107899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44368"/>
            <a:ext cx="103327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9"/>
                </a:solidFill>
                <a:latin typeface="Noto Sans CJK SC"/>
              </a:defRPr>
            </a:pPr>
            <a:r>
              <a:t>Braun, V., &amp; Clarke, V. (2006). Using thematic analysis in psychology. Qualitative Research in Psychology, 3(2), 77–101. https://doi.org/10.1191/1478088706qp063oa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69079"/>
            <a:ext cx="107899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33272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43849"/>
                </a:solidFill>
                <a:latin typeface="Noto Sans CJK SC"/>
              </a:defRPr>
            </a:pPr>
            <a:r>
              <a:t>UNESCO. (2023). Guidance for generative AI in education and research. https://unesdoc.unesco.org/ark:/48223/pf0000386693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87987"/>
                </a:solidFill>
                <a:latin typeface="Noto Sans CJK SC"/>
              </a:defRPr>
            </a:pPr>
            <a:r>
              <a:t>实施前需补充近期实证文献并核查来源；本清单不是系统综述。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