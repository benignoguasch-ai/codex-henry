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1｜板块：问题与范围</a:t>
            </a:r>
          </a:p>
          <a:p>
            <a:r>
              <a:t>建议本页用时：约 1 分钟（参考文献页可快速展示）。</a:t>
            </a:r>
          </a:p>
          <a:p>
            <a:r>
              <a:t>开场说明：我们关心的不是 AI 能否替代译者，而是学生如何使用、判断和修订 AI 译文。本次是一项可执行的小规模研究方案。组员姓名与课程信息可自行补充。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1｜板块：问题与范围</a:t>
            </a:r>
          </a:p>
          <a:p>
            <a:r>
              <a:t>建议本页用时：约 1 分钟（参考文献页可快速展示）。</a:t>
            </a:r>
          </a:p>
          <a:p>
            <a:r>
              <a:t>请用自己的课程经历引入，不将个人感受当作已验证的普遍事实。核心矛盾是效率、质量和判断之间可能存在不同变化。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1｜板块：问题与范围</a:t>
            </a:r>
          </a:p>
          <a:p>
            <a:r>
              <a:t>建议本页用时：约 1 分钟（参考文献页可快速展示）。</a:t>
            </a:r>
          </a:p>
          <a:p>
            <a:r>
              <a:t>解释为什么不直接研究“AI 对翻译行业的影响”：范围过大且难以操作化。14 人是课程项目的可行规模，不代表已经通过统计功效分析证明样本充分。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1｜板块：问题与范围</a:t>
            </a:r>
          </a:p>
          <a:p>
            <a:r>
              <a:t>建议本页用时：约 1 分钟（参考文献页可快速展示）。</a:t>
            </a:r>
          </a:p>
          <a:p>
            <a:r>
              <a:t>第一位汇报者结束：研究对象和边界已经明确。过渡：接下来先看哪些理论与文献可以支撑这些问题，而不是直接跳到实验。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2｜板块：文献与切入点</a:t>
            </a:r>
          </a:p>
          <a:p>
            <a:r>
              <a:t>建议本页用时：约 1 分钟（参考文献页可快速展示）。</a:t>
            </a:r>
          </a:p>
          <a:p>
            <a:r>
              <a:t>引用是理论依据，不等同于该文已经验证了今天的生成式 AI。这里借用互动视角组织过程观察，不把“主体性”简化成修订次数。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2｜板块：文献与切入点</a:t>
            </a:r>
          </a:p>
          <a:p>
            <a:r>
              <a:t>建议本页用时：约 1 分钟（参考文献页可快速展示）。</a:t>
            </a:r>
          </a:p>
          <a:p>
            <a:r>
              <a:t>本页是起步文献框架，并非完整或系统性综述。Kenny 是编者。可进一步查找近三年的、与选定模型和语言方向直接相关的实证论文。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2｜板块：文献与切入点</a:t>
            </a:r>
          </a:p>
          <a:p>
            <a:r>
              <a:t>建议本页用时：约 1 分钟（参考文献页可快速展示）。</a:t>
            </a:r>
          </a:p>
          <a:p>
            <a:r>
              <a:t>优先近三年实证研究，同时保留经典方法文献。实际检索后才能填写文献数量和总结实证结论，本方案不虚构检索结果。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2｜板块：文献与切入点</a:t>
            </a:r>
          </a:p>
          <a:p>
            <a:r>
              <a:t>建议本页用时：约 1 分钟（参考文献页可快速展示）。</a:t>
            </a:r>
          </a:p>
          <a:p>
            <a:r>
              <a:t>不要说“国内外尚无人研究”或“填补空白”。目前确立的是可研究的课堂问题；创新性要在完成文献检索后进一步确认。过渡到研究问题和变量。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3｜板块：研究问题与设计</a:t>
            </a:r>
          </a:p>
          <a:p>
            <a:r>
              <a:t>建议本页用时：约 1 分钟（参考文献页可快速展示）。</a:t>
            </a:r>
          </a:p>
          <a:p>
            <a:r>
              <a:t>先问差异方向与幅度，不预设 AI 必然提升质量。RQ1、RQ2 使用量化资料；RQ3 使用修订记录和回顾访谈。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3｜板块：研究问题与设计</a:t>
            </a:r>
          </a:p>
          <a:p>
            <a:r>
              <a:t>建议本页用时：约 1 分钟（参考文献页可快速展示）。</a:t>
            </a:r>
          </a:p>
          <a:p>
            <a:r>
              <a:t>质量指标越低代表错误负担越小，但它不覆盖所有审美质量。两种条件均可使用相同的固定词典资源；独立翻译条件不允许 MT 或生成式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3｜板块：研究问题与设计</a:t>
            </a:r>
          </a:p>
          <a:p>
            <a:r>
              <a:t>建议本页用时：约 1 分钟（参考文献页可快速展示）。</a:t>
            </a:r>
          </a:p>
          <a:p>
            <a:r>
              <a:t>不让同一学生重复翻译同一文本，以减少记忆影响。用时是包括提示输入、等待与修订的真实总时间。模型版本与运行日期必须记录。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3｜板块：研究问题与设计</a:t>
            </a:r>
          </a:p>
          <a:p>
            <a:r>
              <a:t>建议本页用时：约 1 分钟（参考文献页可快速展示）。</a:t>
            </a:r>
          </a:p>
          <a:p>
            <a:r>
              <a:t>该分配使每段文本在两种条件各有 7 人，但独立先做与 AI 先做为 8 比 6，应透明报告。过渡：框架已经确定，下面说明具体怎样执行并评分。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4｜板块：实施与评价</a:t>
            </a:r>
          </a:p>
          <a:p>
            <a:r>
              <a:t>建议本页用时：约 1 分钟（参考文献页可快速展示）。</a:t>
            </a:r>
          </a:p>
          <a:p>
            <a:r>
              <a:t>预试用于排除说明不清、文本难度悬殊等问题，不用于制造有利结果。具体模型取决于学校可用工具，实施前必须写明。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4｜板块：实施与评价</a:t>
            </a:r>
          </a:p>
          <a:p>
            <a:r>
              <a:t>建议本页用时：约 1 分钟（参考文献页可快速展示）。</a:t>
            </a:r>
          </a:p>
          <a:p>
            <a:r>
              <a:t>仅进行一次初译生成，不允许后续聊天，以减少交互策略差异。保存输出而不假设相同提示会产生完全相同结果。独立条件也填写关键决策，以保持过程记录负担一致。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4｜板块：实施与评价</a:t>
            </a:r>
          </a:p>
          <a:p>
            <a:r>
              <a:t>建议本页用时：约 1 分钟（参考文献页可快速展示）。</a:t>
            </a:r>
          </a:p>
          <a:p>
            <a:r>
              <a:t>这不是正式标准化 MQM 量表，不宣称权重具有普遍效度。重大错误是实质改变信息或妨碍理解，轻微错误不改变核心信息。报告初评一致性及争议处理，不能只呈现协商后的一致。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4｜板块：实施与评价</a:t>
            </a:r>
          </a:p>
          <a:p>
            <a:r>
              <a:t>建议本页用时：约 1 分钟（参考文献页可快速展示）。</a:t>
            </a:r>
          </a:p>
          <a:p>
            <a:r>
              <a:t>请指出两处不同的语义改变。此例只演示准确性判断，不说明真实 AI 一定会犯这些错误。过渡：有了数据收集和评价方法，下一步是分析与解释。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5｜板块：分析与整合</a:t>
            </a:r>
          </a:p>
          <a:p>
            <a:r>
              <a:t>建议本页用时：约 1 分钟（参考文献页可快速展示）。</a:t>
            </a:r>
          </a:p>
          <a:p>
            <a:r>
              <a:t>不把多个句子当成独立参与者来扩大样本量。检验选择须依据差值分布等条件；不能先试多个检验再只报告显著者。本页是分析计划，没有任何真实数值。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5｜板块：分析与整合</a:t>
            </a:r>
          </a:p>
          <a:p>
            <a:r>
              <a:t>建议本页用时：约 1 分钟（参考文献页可快速展示）。</a:t>
            </a:r>
          </a:p>
          <a:p>
            <a:r>
              <a:t>主题分析不是把访谈次数最多的词直接当主题。研究者需解释主题与研究问题的关系；他人讨论用于检视解释，不把所有分歧强行消除当作唯一质量标准。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5｜板块：分析与整合</a:t>
            </a:r>
          </a:p>
          <a:p>
            <a:r>
              <a:t>建议本页用时：约 1 分钟（参考文献页可快速展示）。</a:t>
            </a:r>
          </a:p>
          <a:p>
            <a:r>
              <a:t>不能从一次修订行为直接推断稳定人格或长期主体性。整合时展示每个匿名参与者的量化表现和质性片段，检查它们是否互相支持或矛盾。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5｜板块：分析与整合</a:t>
            </a:r>
          </a:p>
          <a:p>
            <a:r>
              <a:t>建议本页用时：约 1 分钟（参考文献页可快速展示）。</a:t>
            </a:r>
          </a:p>
          <a:p>
            <a:r>
              <a:t>可在正式论文中建立这些表，但本次不造数。过渡：方法能否执行，还取决于伦理、资料管理和可行性。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6｜板块：伦理与可行性</a:t>
            </a:r>
          </a:p>
          <a:p>
            <a:r>
              <a:t>建议本页用时：约 1 分钟（参考文献页可快速展示）。</a:t>
            </a:r>
          </a:p>
          <a:p>
            <a:r>
              <a:t>不能承诺匿名化后仍随时撤回所有资料，应在同意书说明具体截止点。研究实施前由课程教师确认审查要求，不宣称已获伦理批准。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6｜板块：伦理与可行性</a:t>
            </a:r>
          </a:p>
          <a:p>
            <a:r>
              <a:t>建议本页用时：约 1 分钟（参考文献页可快速展示）。</a:t>
            </a:r>
          </a:p>
          <a:p>
            <a:r>
              <a:t>UNESCO（2023）提供教育与研究情境的风险讨论；课程或学校的具体政策才决定允许范围。工具生成的语言可以辅助整理，但论证与引用的责任由作者承担。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6｜板块：伦理与可行性</a:t>
            </a:r>
          </a:p>
          <a:p>
            <a:r>
              <a:t>建议本页用时：约 1 分钟（参考文献页可快速展示）。</a:t>
            </a:r>
          </a:p>
          <a:p>
            <a:r>
              <a:t>如果两条件没有显著差异，不能直接宣称完全等效。若学生用时下降，也不能据此宣称已提高全部翻译能力。把这些边界写入方法与讨论。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6｜板块：伦理与可行性</a:t>
            </a:r>
          </a:p>
          <a:p>
            <a:r>
              <a:t>建议本页用时：约 1 分钟（参考文献页可快速展示）。</a:t>
            </a:r>
          </a:p>
          <a:p>
            <a:r>
              <a:t>这是假定工具可用、课程审查允许后的建议时间表。小组分工包括材料、组织、评分和分析，但正式评分者须先校准。过渡到如何把研究写成学术论文。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7｜板块：学术写作与结语</a:t>
            </a:r>
          </a:p>
          <a:p>
            <a:r>
              <a:t>建议本页用时：约 1 分钟（参考文献页可快速展示）。</a:t>
            </a:r>
          </a:p>
          <a:p>
            <a:r>
              <a:t>当前属于 proposal，可写分析计划和预期贡献，不能把“将发现”写成真实结果。研究完成后再转成实证论文，结论必须回扣 RQ1–RQ3。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7｜板块：学术写作与结语</a:t>
            </a:r>
          </a:p>
          <a:p>
            <a:r>
              <a:t>建议本页用时：约 1 分钟（参考文献页可快速展示）。</a:t>
            </a:r>
          </a:p>
          <a:p>
            <a:r>
              <a:t>结语：本方案把常见课堂体验转化成可执行、可追溯且遵守伦理要求的研究。最后的问题可用于全班讨论，不当作问卷结果。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7｜板块：学术写作与结语</a:t>
            </a:r>
          </a:p>
          <a:p>
            <a:r>
              <a:t>建议本页用时：约 1 分钟（参考文献页可快速展示）。</a:t>
            </a:r>
          </a:p>
          <a:p>
            <a:r>
              <a:t>建议按 DOI 跳转到出版社或机构页面核验元数据。这两项是理论与工具素养来源，不是针对本项目所选生成式模型的实验结论。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汇报者 7｜板块：学术写作与结语</a:t>
            </a:r>
          </a:p>
          <a:p>
            <a:r>
              <a:t>建议本页用时：约 1 分钟（参考文献页可快速展示）。</a:t>
            </a:r>
          </a:p>
          <a:p>
            <a:r>
              <a:t>这些来源提供方法与伦理框架。交稿前核查课程引用要求，补充完成检索后的相关实证研究。本环境无法在线核验出版社元数据；不要把这份起步文献清单称为已完成系统综述。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7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27A99A"/>
                </a:solidFill>
                <a:latin typeface="Noto Sans CJK SC"/>
              </a:defRPr>
            </a:pPr>
            <a:r>
              <a:t>01 / 七人汇报   ·   问题与范围   ·   汇报者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生成式 AI 辅助英汉翻译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译文质量、译者决策与学术伦理：一项本科生混合方法研究方案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研究方法与学术写作 · 七人小组汇报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对象：英语翻译专业本科生｜方向：英译汉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本次呈现研究方案，不报告尚未收集的实验结果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7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27A99A"/>
                </a:solidFill>
                <a:latin typeface="Noto Sans CJK SC"/>
              </a:defRPr>
            </a:pPr>
            <a:r>
              <a:t>01 / 七人汇报   ·   问题与范围   ·   汇报者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从课堂经验提出问题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速度提升，并不自动意味着翻译质量提高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生成式 AI 能快速提供译文，也可能遗漏限定条件或改变语气。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学生仍需判断语义、术语、语域和文化表达是否适合目标读者。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我们同时观察最终译文、完成时间与修订理由。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7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27A99A"/>
                </a:solidFill>
                <a:latin typeface="Noto Sans CJK SC"/>
              </a:defRPr>
            </a:pPr>
            <a:r>
              <a:t>01 / 七人汇报   ·   问题与范围   ·   汇报者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把大主题收窄为可研究的任务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固定语言方向、文本类型、工具和参与者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语言与任务：英译汉；一般说明类文本；约 180–220 英文词。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参与者：计划招募 14 名翻译专业高年级学生。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比较：独立翻译与 AI 初译后人工修订。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边界：不推论所有专业译者、所有模型或所有文本类型。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7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27A99A"/>
                </a:solidFill>
                <a:latin typeface="Noto Sans CJK SC"/>
              </a:defRPr>
            </a:pPr>
            <a:r>
              <a:t>01 / 七人汇报   ·   问题与范围   ·   汇报者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研究目标与核心论证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最终质量，需要与过程证据放在一起解释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目标一：比较两种条件下的质量和用时。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目标二：理解学生为何接受、修改或拒绝 AI 的建议。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目标三：提出有证据约束的课堂使用建议。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7A99A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论证主线：工具输出 → 学生判断 → 最终译文 → 教学启示。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787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4787C7"/>
                </a:solidFill>
                <a:latin typeface="Noto Sans CJK SC"/>
              </a:defRPr>
            </a:pPr>
            <a:r>
              <a:t>02 / 七人汇报   ·   文献与切入点   ·   汇报者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理论视角：翻译是人与工具的互动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把译者看作持续作出判断的行动者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O’Brien（2012）从人机互动角度讨论翻译活动。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本研究观察的是工具参与后学生的决策，而非只评价模型。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译者决策的操作定义：接受、修改、拒绝及其可解释理由。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787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4787C7"/>
                </a:solidFill>
                <a:latin typeface="Noto Sans CJK SC"/>
              </a:defRPr>
            </a:pPr>
            <a:r>
              <a:t>02 / 七人汇报   ·   文献与切入点   ·   汇报者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文献为研究提供哪些支点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将已有认识与本研究的用途分开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Kenny（2022）：机器翻译素养；支持批判性使用工具的讨论。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O’Brien（2012）：人机互动；支持观察工具使用过程。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Braun 与 Clarke（2006）：主题分析；支持访谈资料分析。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UNESCO（2023）：教育与研究中的生成式 AI；支持伦理设计。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787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4787C7"/>
                </a:solidFill>
                <a:latin typeface="Noto Sans CJK SC"/>
              </a:defRPr>
            </a:pPr>
            <a:r>
              <a:t>02 / 七人汇报   ·   文献与切入点   ·   汇报者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检索与综述怎么做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让文献选择过程可以追溯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检索源：学校图书馆数据库、Google Scholar、出版社页面。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DCE4EF"/>
                </a:solidFill>
                <a:latin typeface="Noto Sans CJK SC"/>
              </a:defRPr>
            </a:pPr>
            <a:r>
              <a:t>检索组合：generative AI / machine translation + translation students + post-editing / agency。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纳入：明确参与者、翻译任务、工具条件和评价方法的研究。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记录：检索日期、关键词、筛选理由；整理“对象—方法—发现—局限”矩阵。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787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4787C7"/>
                </a:solidFill>
                <a:latin typeface="Noto Sans CJK SC"/>
              </a:defRPr>
            </a:pPr>
            <a:r>
              <a:t>02 / 七人汇报   ·   文献与切入点   ·   汇报者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从文献框架形成研究切入点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在本课堂情境中补充过程证据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仅有最终得分，无法解释学生为何保留或修订某处表达。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仅有态度问卷，无法证明实际译文质量发生变化。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本研究把质量、用时和决策理由放在同一组任务中观察。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787C7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待检索确认：这一设计与已有研究的具体差异及创新程度。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7A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7A72C4"/>
                </a:solidFill>
                <a:latin typeface="Noto Sans CJK SC"/>
              </a:defRPr>
            </a:pPr>
            <a:r>
              <a:t>03 / 七人汇报   ·   研究问题与设计   ·   汇报者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三个研究问题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每个问题都对应可收集的证据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RQ1：AI 辅助条件下，最终译文的错误负担有何变化？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RQ2：AI 辅助条件下，任务完成时间有何变化？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RQ3：学生基于哪些理由接受、修改或拒绝 AI 建议？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7A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7A72C4"/>
                </a:solidFill>
                <a:latin typeface="Noto Sans CJK SC"/>
              </a:defRPr>
            </a:pPr>
            <a:r>
              <a:t>03 / 七人汇报   ·   研究问题与设计   ·   汇报者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将概念转化为变量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定义清楚，才能避免“感觉更好”的评价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自变量：独立翻译 / AI 初译后人工修订。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质量：按固定规则统计准确性、流畅性与术语错误。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效率：从任务开始到提交最终译文的总时长。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决策证据：关键修订、原文依据与回顾访谈说明。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7A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7A72C4"/>
                </a:solidFill>
                <a:latin typeface="Noto Sans CJK SC"/>
              </a:defRPr>
            </a:pPr>
            <a:r>
              <a:t>03 / 七人汇报   ·   研究问题与设计   ·   汇报者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研究设计：同一学生完成两种条件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使用被试内设计，减少个人水平差异的干扰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每位学生完成两段不同文本：A 与 B。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一段独立翻译，另一段使用同一版本 AI 初译再修订。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统一设备、资源、任务说明与每段 20 分钟上限。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记录是否按时完成；未完成情况保留并明确报告。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7A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7A72C4"/>
                </a:solidFill>
                <a:latin typeface="Noto Sans CJK SC"/>
              </a:defRPr>
            </a:pPr>
            <a:r>
              <a:t>03 / 七人汇报   ·   研究问题与设计   ·   汇报者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平衡文本与顺序效应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14 人分入四个序列，尽量平衡条件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序列① 4 人：A 独立 → B AI；序列② 3 人：B AI → A 独立。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序列③ 4 人：A AI → B 独立；序列④ 3 人：B 独立 → A AI。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随机分配序列；两任务间设置统一休息时间。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A72C4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报告剩余顺序与文本差异；小样本不保证完全消除偏差。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C8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CC8954"/>
                </a:solidFill>
                <a:latin typeface="Noto Sans CJK SC"/>
              </a:defRPr>
            </a:pPr>
            <a:r>
              <a:t>04 / 七人汇报   ·   实施与评价   ·   汇报者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材料与工具准备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先做小规模预试，再冻结正式任务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选用两段可合法使用的说明类文本，控制长度与难度。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邀请 2 名不进入正式样本的学生预试任务时间与说明。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固定模型、版本、日期、提示词和可访问词典。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不在研究期间悄悄更换材料或评价规则。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C8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CC8954"/>
                </a:solidFill>
                <a:latin typeface="Noto Sans CJK SC"/>
              </a:defRPr>
            </a:pPr>
            <a:r>
              <a:t>04 / 七人汇报   ·   实施与评价   ·   汇报者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标准化任务流程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两种条件的主要区别是有无 AI 初译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共同流程：阅读说明 → 启动计时 → 完成译文 → 提交。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AI 条件：保存固定提示词与完整初译；随后人工修订。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固定提示词：请将以下说明文译成中文，忠实保留信息，面向普通读者，仅输出译文。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提交后填写 3 处关键决策及其理由；单独计时，不计入任务用时。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C8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CC8954"/>
                </a:solidFill>
                <a:latin typeface="Noto Sans CJK SC"/>
              </a:defRPr>
            </a:pPr>
            <a:r>
              <a:t>04 / 七人汇报   ·   实施与评价   ·   汇报者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质量评价：建立可重复的规则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两名评分者先校准，再盲评正式译文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采用本项目简化错误框架：准确性、流畅性、术语一致性。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轻微错误 1 分；重大错误 3 分；同一错误避免重复计分。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错误负担 = 加权错误总分 ÷ 原文词数 × 100。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隐藏学生身份和工具条件；保留初评分，再讨论分歧。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C8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CC8954"/>
                </a:solidFill>
                <a:latin typeface="Noto Sans CJK SC"/>
              </a:defRPr>
            </a:pPr>
            <a:r>
              <a:t>04 / 七人汇报   ·   实施与评价   ·   汇报者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评分示例：限定条件是否被保留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教学自拟示例，不属于研究数据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DCE4EF"/>
                </a:solidFill>
                <a:latin typeface="Noto Sans CJK SC"/>
              </a:defRPr>
            </a:pPr>
            <a:r>
              <a:t>原文：The policy may reduce costs, but its effects depend on local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示例译文：这项政策会降低成本，并在各地取得同样效果。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问题：“may”变成确定判断；“depend on”变成一致效果。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CC8954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修订：这项政策可能降低成本，但其效果取决于当地条件。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9C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439C9B"/>
                </a:solidFill>
                <a:latin typeface="Noto Sans CJK SC"/>
              </a:defRPr>
            </a:pPr>
            <a:r>
              <a:t>05 / 七人汇报   ·   分析与整合   ·   汇报者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量化分析：先描述，再比较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以学生为分析单位，保留配对关系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每人计算：AI 条件数值 − 独立条件数值。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分别呈现质量与用时的配对点图、差值中位数及范围。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必要时开展探索性配对检验，并说明小样本假设与限制。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未完成、缺失和异常情况按预先规则报告。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9C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439C9B"/>
                </a:solidFill>
                <a:latin typeface="Noto Sans CJK SC"/>
              </a:defRPr>
            </a:pPr>
            <a:r>
              <a:t>05 / 七人汇报   ·   分析与整合   ·   汇报者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质性分析：从理由到主题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用回顾访谈解释数字之外的决策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计划对全部参与者进行约 8 分钟回顾访谈。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问题示例：为何保留这处表达？依据是什么？何时拒绝 AI？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按 Braun 与 Clarke（2006）开展熟悉、编码、主题形成与修订。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记录分析备忘录，保留反例；匿名引用支持主题。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9C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439C9B"/>
                </a:solidFill>
                <a:latin typeface="Noto Sans CJK SC"/>
              </a:defRPr>
            </a:pPr>
            <a:r>
              <a:t>05 / 七人汇报   ·   分析与整合   ·   汇报者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整合两类证据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用对照表连接表现与决策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组合一：用时减少，质量相近；再检查修订依据是否充分。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组合二：用时减少，错误增加；关注未核实的接受行为。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组合三：用时增加，错误减少；关注审慎核查带来的成本。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这些是解释路径示例；只有实际数据才能决定是否成立。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9C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439C9B"/>
                </a:solidFill>
                <a:latin typeface="Noto Sans CJK SC"/>
              </a:defRPr>
            </a:pPr>
            <a:r>
              <a:t>05 / 七人汇报   ·   分析与整合   ·   汇报者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结果如何报告：提前设计呈现方式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预设表格结构，不预填“漂亮的数据”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表 1：样本与任务完成情况；表 2：两条件质量、用时与配对差值。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图 1：个人配对变化；表 3：决策主题、匿名引文与反例。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明确区分：描述结果、统计推断、研究者解释。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439C9B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不在研究方案中填写均值、显著性或访谈引文。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D7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9D719E"/>
                </a:solidFill>
                <a:latin typeface="Noto Sans CJK SC"/>
              </a:defRPr>
            </a:pPr>
            <a:r>
              <a:t>06 / 七人汇报   ·   伦理与可行性   ·   汇报者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参与者伦理与数据保护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自愿参加，减少同学关系带来的压力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告知目的、流程、资料用途及退出方式；取得知情同意。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成绩评价与参与决定分离；不以参与换取课程优势。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编码 P01–P14；身份对应表与研究资料分开保管。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按学校要求确认伦理审查、保管期限和匿名后退出边界。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D7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9D719E"/>
                </a:solidFill>
                <a:latin typeface="Noto Sans CJK SC"/>
              </a:defRPr>
            </a:pPr>
            <a:r>
              <a:t>06 / 七人汇报   ·   伦理与可行性   ·   汇报者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AI 使用与学术诚信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披露工具参与，并承担最终内容责任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不向外部模型输入身份信息、隐私或无权上传的文本。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报告工具、版本、日期、用途、提示词及人工核查方式。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AI 输出不替代可追溯的学术来源；逐项核实参考文献。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依据学校政策披露辅助使用，保留原始输出与修改记录。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D7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9D719E"/>
                </a:solidFill>
                <a:latin typeface="Noto Sans CJK SC"/>
              </a:defRPr>
            </a:pPr>
            <a:r>
              <a:t>06 / 七人汇报   ·   伦理与可行性   ·   汇报者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局限与风险：提前写入方案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让结论的边界与证据相匹配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样本小且为便利招募，限制统计功效与推广。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仅两段说明文，不能推论文学、法律或口译任务。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模型输出波动、学生熟悉程度与评分判断可能影响结果。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控制与记录可减少干扰，不能保证彻底消除。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9D7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9D719E"/>
                </a:solidFill>
                <a:latin typeface="Noto Sans CJK SC"/>
              </a:defRPr>
            </a:pPr>
            <a:r>
              <a:t>06 / 七人汇报   ·   伦理与可行性   ·   汇报者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四周执行计划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在本科课程条件下完成一个可追溯的小研究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第 1 周：文献检索、教师确认、同意书与材料预试。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第 2 周：招募、随机分配、任务实施与回顾访谈。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第 3 周：盲评、数据整理、主题分析与证据整合。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9D719E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第 4 周：论文初稿、引用核查、互审与汇报排练。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A9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6A90B5"/>
                </a:solidFill>
                <a:latin typeface="Noto Sans CJK SC"/>
              </a:defRPr>
            </a:pPr>
            <a:r>
              <a:t>07 / 七人汇报   ·   学术写作与结语   ·   汇报者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从研究方案到学术论文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每一节都回答一个明确的问题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6A90B5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引言：为什么值得研究？提出范围与研究问题。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6A90B5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文献与方法：已有研究怎样启发本研究？任务怎样执行？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6A90B5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结果：观察到什么？讨论：这些证据意味着什么？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6A90B5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结论：回答问题，说明局限；方案阶段改用预期贡献。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A9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6A90B5"/>
                </a:solidFill>
                <a:latin typeface="Noto Sans CJK SC"/>
              </a:defRPr>
            </a:pPr>
            <a:r>
              <a:t>07 / 七人汇报   ·   学术写作与结语   ·   汇报者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预期贡献与结语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形成可检验的问题，而非预先赞成或反对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6A90B5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方法贡献：将质量、用时与决策过程放进同一任务设计。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56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6A90B5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10712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教学价值：为核查、修订与工具披露提供课堂证据。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96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6A90B5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123944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结论边界：是否有效、对谁有效，必须由实际数据回答。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828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6A90B5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37176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DCE4EF"/>
                </a:solidFill>
                <a:latin typeface="Noto Sans CJK SC"/>
              </a:defRPr>
            </a:pPr>
            <a:r>
              <a:t>讨论问题：如果速度提高但错误增加，你会如何评价“效率”？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A9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6A90B5"/>
                </a:solidFill>
                <a:latin typeface="Noto Sans CJK SC"/>
              </a:defRPr>
            </a:pPr>
            <a:r>
              <a:t>07 / 七人汇报   ·   学术写作与结语   ·   汇报者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参考文献 1 /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APA 第 7 版格式 · 理论与方法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10698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DCE4EF"/>
                </a:solidFill>
                <a:latin typeface="Noto Sans CJK SC"/>
              </a:defRPr>
            </a:pPr>
            <a:r>
              <a:t>O’Brien, S. (2012). Translation as human–computer interaction. Translation Spaces, 1, 101–122. https://doi.org/10.1075/ts.1.05obr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69080"/>
            <a:ext cx="10698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DCE4EF"/>
                </a:solidFill>
                <a:latin typeface="Noto Sans CJK SC"/>
              </a:defRPr>
            </a:pPr>
            <a:r>
              <a:t>Kenny, D. (Ed.). (2022). Machine translation for everyone: Empowering users in the age of artificial intelligence. Language Science Press. https://doi.org/10.5281/zenodo.6653406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A9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6A90B5"/>
                </a:solidFill>
                <a:latin typeface="Noto Sans CJK SC"/>
              </a:defRPr>
            </a:pPr>
            <a:r>
              <a:t>07 / 七人汇报   ·   学术写作与结语   ·   汇报者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300" b="1">
                <a:solidFill>
                  <a:srgbClr val="FFFFFF"/>
                </a:solidFill>
                <a:latin typeface="Noto Sans CJK SC"/>
              </a:defRPr>
            </a:pPr>
            <a:r>
              <a:t>参考文献 2 /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9AB0C8"/>
                </a:solidFill>
                <a:latin typeface="Noto Sans CJK SC"/>
              </a:defRPr>
            </a:pPr>
            <a:r>
              <a:t>APA 第 7 版格式 · 分析与伦理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10698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DCE4EF"/>
                </a:solidFill>
                <a:latin typeface="Noto Sans CJK SC"/>
              </a:defRPr>
            </a:pPr>
            <a:r>
              <a:t>Braun, V., &amp; Clarke, V. (2006). Using thematic analysis in psychology. Qualitative Research in Psychology, 3(2), 77–101. https://doi.org/10.1191/1478088706qp063oa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69080"/>
            <a:ext cx="10698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DCE4EF"/>
                </a:solidFill>
                <a:latin typeface="Noto Sans CJK SC"/>
              </a:defRPr>
            </a:pPr>
            <a:r>
              <a:t>UNESCO. (2023). Guidance for generative AI in education and research. https://unesdoc.unesco.org/ark:/48223/pf0000386693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36422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990A8"/>
                </a:solidFill>
                <a:latin typeface="Noto Sans CJK SC"/>
              </a:defRPr>
            </a:pPr>
            <a:r>
              <a:t>研究方案  /  未收集实证数据  ·  英语翻译专业 ·  研究方法与学术写作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2910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